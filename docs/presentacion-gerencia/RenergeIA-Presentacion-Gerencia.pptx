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4250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RenergeIA es la plataforma web desarrollada internamente para gestionar los proyectos EPC de la empresa. Hoy ya tiene cargados los datos reales de La Soberana.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Contexto: hoy la información está repartida en Excel, tesorería, correos y formatos en papel. Responder cómo va el proyecto exige consolidar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módulos. Todo vive en una sola aplicación web en Google Cloud. A continuación se muestra cada módulo con pantallas reales de La Soberana.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de La Soberana: 63,8 % programado frente a 56,2 % real, con desviación y SPI. La Curva S se calcula 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con 170 actividades. Se importa directo desde MS Project y se pueden crear reprogramaciones sin perder el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Informe diario: el residente registra avances por actividad; el sistema calcula el avance real y lo lleva a la Curva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Presupuesto de La Soberana: 2.951 millones COP + 737 mil USD, 35 % ejecutado. El ejecutado se sincroniza con el flujo de caja de tesorería.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órdenes de compra cargadas desde tesorería. Se detectan 13 OC sobrepasadas y facturas sin código para asignar.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financiero con exposición total y gráficos por categoría. El consolidado semanal genera el informe para gerencia.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Histograma real construido desde la nómina de tesorería. Se compara con el planificado de la BOM de la oferta.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122 documentos de La Soberana: 60 pendientes por emitir, 48 validados. El semáforo muestra cuáles llevan más días sin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Módulo de seguridad: plan de trabajo HSE, inspecciones, EPP, capacitaciones, incidentes e indicadores.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Biblioteca de peligros basada en GTC 45. La inspección con IA sugiere peligros y controles para la matriz IPERV.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Calidad, Ambiental y Social comparten la misma lógica: indicadores, registros y acciones. Las auditorías corporativas se hacen desde el módulo HSEQ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Alertas: 70 documentos vigentes, 56 vencidos. Cada recurso muestra en color qué le falta para poder ingresar a obra.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Clima: se consulta el pronóstico del sitio (Cereté) y el sistema marca qué actividades del cronograma se ven afectadas, con una recomendación por actividad.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Canal de WhatsApp conectado directo con la API de Meta. Es un bot de menú: responde con datos del sistema. Se muestra como ejemplo de conversación.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Beneficios: información al día, menos digitación, cumplimiento con alertas y un estándar único para todos los proyectos.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Propuesta: piloto en La Soberana durante el último trimestre de 2026, con revisión mensual, y adopción en todos los proyectos desde enero de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se pide aprobar el piloto, nombrar responsables por módulo y fijar la fecha de revisión para decidir la adopción general.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18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9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isa Becerra\AppData\Local\Temp\claude\C--Users-Luisa-Becerra-Downloads-RenergeIA\3aeed48c-97c9-4566-979c-1f9760d298eb\scratchpad\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377440" cy="10515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488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RenergeIA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Presentación a gerencia  ·  Septiembre 2026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Proyecto piloto: La Soberana (COS5SO)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92240" y="960120"/>
            <a:ext cx="5486400" cy="3611880"/>
          </a:xfrm>
          <a:prstGeom prst="roundRect">
            <a:avLst>
              <a:gd name="adj" fmla="val 3038"/>
            </a:avLst>
          </a:prstGeom>
          <a:solidFill>
            <a:srgbClr val="111921"/>
          </a:solidFill>
          <a:ln w="12700">
            <a:solidFill>
              <a:srgbClr val="2B4A75"/>
            </a:solidFill>
            <a:prstDash val="solid"/>
          </a:ln>
          <a:effectLst>
            <a:outerShdw blurRad="177800" dist="508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8" name="Image 1" descr="C:\Users\Luisa Becerra\AppData\Local\Temp\claude\C--Users-Luisa-Becerra-Downloads-RenergeIA\3aeed48c-97c9-4566-979c-1f9760d298eb\scratchpad\shots\02_c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097280"/>
            <a:ext cx="5212080" cy="325526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503920" y="4572000"/>
            <a:ext cx="1463040" cy="128016"/>
          </a:xfrm>
          <a:prstGeom prst="rect">
            <a:avLst/>
          </a:prstGeom>
          <a:solidFill>
            <a:srgbClr val="0E2340"/>
          </a:solidFill>
          <a:ln w="12700">
            <a:solidFill>
              <a:srgbClr val="0E234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reto de hoy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información de cada proyecto vive en muchos lugares distintos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6"/>
          <p:cNvSpPr/>
          <p:nvPr/>
        </p:nvSpPr>
        <p:spPr>
          <a:xfrm>
            <a:off x="731520" y="1783080"/>
            <a:ext cx="731520" cy="73152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Archivos y correos dispersos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3246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Cronograma, tesorería, documentos y HSE en Excel y correos separados.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291840" y="14630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0"/>
          <p:cNvSpPr/>
          <p:nvPr/>
        </p:nvSpPr>
        <p:spPr>
          <a:xfrm>
            <a:off x="3566160" y="1783080"/>
            <a:ext cx="731520" cy="73152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19659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6616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 visión en tiempo real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3246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estado del proyecto se conoce solo cuando alguien lo consolida a mano.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126480" y="14630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4"/>
          <p:cNvSpPr/>
          <p:nvPr/>
        </p:nvSpPr>
        <p:spPr>
          <a:xfrm>
            <a:off x="6400800" y="1783080"/>
            <a:ext cx="731520" cy="73152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196596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0080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Reprocesos y digitación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3246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Los mismos datos se pasan varias veces entre archivos y personas.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8961120" y="14630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18"/>
          <p:cNvSpPr/>
          <p:nvPr/>
        </p:nvSpPr>
        <p:spPr>
          <a:xfrm>
            <a:off x="9235440" y="1783080"/>
            <a:ext cx="731520" cy="73152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196596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3544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Vencimientos sin alerta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9235440" y="3246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Pólizas, licencias y documentos se vencen sin que nadie lo vea a tiempo.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457200" y="4434840"/>
            <a:ext cx="11274552" cy="1051560"/>
          </a:xfrm>
          <a:prstGeom prst="roundRect">
            <a:avLst>
              <a:gd name="adj" fmla="val 10435"/>
            </a:avLst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27448"/>
            <a:ext cx="457200" cy="4572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417320" y="443484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pregunta que gerencia hace cada semana: </a:t>
            </a: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¿cómo va el proyecto hoy?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es RenergeIA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sola plataforma web, en la nube, que cubre todo el ciclo del proyecto EPC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6"/>
          <p:cNvSpPr/>
          <p:nvPr/>
        </p:nvSpPr>
        <p:spPr>
          <a:xfrm>
            <a:off x="914400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170992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Proyectos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089404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9"/>
          <p:cNvSpPr/>
          <p:nvPr/>
        </p:nvSpPr>
        <p:spPr>
          <a:xfrm>
            <a:off x="2546604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3764" y="170992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135124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Cronograma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721608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4178808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1709928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767328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Informe Diario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5353812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5"/>
          <p:cNvSpPr/>
          <p:nvPr/>
        </p:nvSpPr>
        <p:spPr>
          <a:xfrm>
            <a:off x="5811012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8172" y="1709928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399532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Costos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986016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8"/>
          <p:cNvSpPr/>
          <p:nvPr/>
        </p:nvSpPr>
        <p:spPr>
          <a:xfrm>
            <a:off x="7443216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0376" y="1709928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31736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Histogramas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8618220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1"/>
          <p:cNvSpPr/>
          <p:nvPr/>
        </p:nvSpPr>
        <p:spPr>
          <a:xfrm>
            <a:off x="9075420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12580" y="1709928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3940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Documentos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10250424" y="13716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Shape 24"/>
          <p:cNvSpPr/>
          <p:nvPr/>
        </p:nvSpPr>
        <p:spPr>
          <a:xfrm>
            <a:off x="10707624" y="1572768"/>
            <a:ext cx="566928" cy="566928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4784" y="1709928"/>
            <a:ext cx="292608" cy="29260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10296144" y="22402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Seguridad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457200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Shape 27"/>
          <p:cNvSpPr/>
          <p:nvPr/>
        </p:nvSpPr>
        <p:spPr>
          <a:xfrm>
            <a:off x="914400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1560" y="3264408"/>
            <a:ext cx="292608" cy="29260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502920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Calidad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2089404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Shape 30"/>
          <p:cNvSpPr/>
          <p:nvPr/>
        </p:nvSpPr>
        <p:spPr>
          <a:xfrm>
            <a:off x="2546604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83764" y="3264408"/>
            <a:ext cx="292608" cy="29260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2135124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Ambiental</a:t>
            </a:r>
            <a:endParaRPr lang="en-US" sz="900" dirty="0"/>
          </a:p>
        </p:txBody>
      </p:sp>
      <p:sp>
        <p:nvSpPr>
          <p:cNvPr id="44" name="Shape 32"/>
          <p:cNvSpPr/>
          <p:nvPr/>
        </p:nvSpPr>
        <p:spPr>
          <a:xfrm>
            <a:off x="3721608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Shape 33"/>
          <p:cNvSpPr/>
          <p:nvPr/>
        </p:nvSpPr>
        <p:spPr>
          <a:xfrm>
            <a:off x="4178808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5968" y="3264408"/>
            <a:ext cx="292608" cy="29260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3767328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Social</a:t>
            </a:r>
            <a:endParaRPr lang="en-US" sz="900" dirty="0"/>
          </a:p>
        </p:txBody>
      </p:sp>
      <p:sp>
        <p:nvSpPr>
          <p:cNvPr id="48" name="Shape 35"/>
          <p:cNvSpPr/>
          <p:nvPr/>
        </p:nvSpPr>
        <p:spPr>
          <a:xfrm>
            <a:off x="5353812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Shape 36"/>
          <p:cNvSpPr/>
          <p:nvPr/>
        </p:nvSpPr>
        <p:spPr>
          <a:xfrm>
            <a:off x="5811012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172" y="3264408"/>
            <a:ext cx="292608" cy="29260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5399532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Auditorías HSEQ</a:t>
            </a:r>
            <a:endParaRPr lang="en-US" sz="900" dirty="0"/>
          </a:p>
        </p:txBody>
      </p:sp>
      <p:sp>
        <p:nvSpPr>
          <p:cNvPr id="52" name="Shape 38"/>
          <p:cNvSpPr/>
          <p:nvPr/>
        </p:nvSpPr>
        <p:spPr>
          <a:xfrm>
            <a:off x="6986016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Shape 39"/>
          <p:cNvSpPr/>
          <p:nvPr/>
        </p:nvSpPr>
        <p:spPr>
          <a:xfrm>
            <a:off x="7443216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0376" y="3264408"/>
            <a:ext cx="292608" cy="292608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7031736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Alertas</a:t>
            </a:r>
            <a:endParaRPr lang="en-US" sz="900" dirty="0"/>
          </a:p>
        </p:txBody>
      </p:sp>
      <p:sp>
        <p:nvSpPr>
          <p:cNvPr id="56" name="Shape 41"/>
          <p:cNvSpPr/>
          <p:nvPr/>
        </p:nvSpPr>
        <p:spPr>
          <a:xfrm>
            <a:off x="8618220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7" name="Shape 42"/>
          <p:cNvSpPr/>
          <p:nvPr/>
        </p:nvSpPr>
        <p:spPr>
          <a:xfrm>
            <a:off x="9075420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58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2580" y="3264408"/>
            <a:ext cx="292608" cy="292608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8663940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Clima</a:t>
            </a:r>
            <a:endParaRPr lang="en-US" sz="900" dirty="0"/>
          </a:p>
        </p:txBody>
      </p:sp>
      <p:sp>
        <p:nvSpPr>
          <p:cNvPr id="60" name="Shape 44"/>
          <p:cNvSpPr/>
          <p:nvPr/>
        </p:nvSpPr>
        <p:spPr>
          <a:xfrm>
            <a:off x="10250424" y="292608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Shape 45"/>
          <p:cNvSpPr/>
          <p:nvPr/>
        </p:nvSpPr>
        <p:spPr>
          <a:xfrm>
            <a:off x="10707624" y="3127248"/>
            <a:ext cx="566928" cy="566928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62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44784" y="3264408"/>
            <a:ext cx="292608" cy="292608"/>
          </a:xfrm>
          <a:prstGeom prst="rect">
            <a:avLst/>
          </a:prstGeom>
        </p:spPr>
      </p:pic>
      <p:sp>
        <p:nvSpPr>
          <p:cNvPr id="63" name="Text 46"/>
          <p:cNvSpPr txBox="1"/>
          <p:nvPr/>
        </p:nvSpPr>
        <p:spPr>
          <a:xfrm>
            <a:off x="10296144" y="37947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WhatsApp</a:t>
            </a:r>
            <a:endParaRPr lang="en-US" sz="900" dirty="0"/>
          </a:p>
        </p:txBody>
      </p:sp>
      <p:sp>
        <p:nvSpPr>
          <p:cNvPr id="64" name="Shape 47"/>
          <p:cNvSpPr/>
          <p:nvPr/>
        </p:nvSpPr>
        <p:spPr>
          <a:xfrm>
            <a:off x="457200" y="4709160"/>
            <a:ext cx="3657600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65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5800" y="5038344"/>
            <a:ext cx="384048" cy="384048"/>
          </a:xfrm>
          <a:prstGeom prst="rect">
            <a:avLst/>
          </a:prstGeom>
        </p:spPr>
      </p:pic>
      <p:sp>
        <p:nvSpPr>
          <p:cNvPr id="66" name="Text 48"/>
          <p:cNvSpPr txBox="1"/>
          <p:nvPr/>
        </p:nvSpPr>
        <p:spPr>
          <a:xfrm>
            <a:off x="1234440" y="481888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 la nube (Google Cloud)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 servidores propios ni instalación</a:t>
            </a:r>
            <a:endParaRPr lang="en-US" sz="1050" dirty="0"/>
          </a:p>
        </p:txBody>
      </p:sp>
      <p:sp>
        <p:nvSpPr>
          <p:cNvPr id="67" name="Shape 49"/>
          <p:cNvSpPr/>
          <p:nvPr/>
        </p:nvSpPr>
        <p:spPr>
          <a:xfrm>
            <a:off x="4261104" y="4709160"/>
            <a:ext cx="3657600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6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489704" y="5038344"/>
            <a:ext cx="384048" cy="384048"/>
          </a:xfrm>
          <a:prstGeom prst="rect">
            <a:avLst/>
          </a:prstGeom>
        </p:spPr>
      </p:pic>
      <p:sp>
        <p:nvSpPr>
          <p:cNvPr id="69" name="Text 50"/>
          <p:cNvSpPr txBox="1"/>
          <p:nvPr/>
        </p:nvSpPr>
        <p:spPr>
          <a:xfrm>
            <a:off x="5038344" y="481888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Desde cualquier navegador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Oficina, obra o celular</a:t>
            </a:r>
            <a:endParaRPr lang="en-US" sz="1050" dirty="0"/>
          </a:p>
        </p:txBody>
      </p:sp>
      <p:sp>
        <p:nvSpPr>
          <p:cNvPr id="70" name="Shape 51"/>
          <p:cNvSpPr/>
          <p:nvPr/>
        </p:nvSpPr>
        <p:spPr>
          <a:xfrm>
            <a:off x="8065008" y="4709160"/>
            <a:ext cx="3657600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71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93608" y="5038344"/>
            <a:ext cx="384048" cy="384048"/>
          </a:xfrm>
          <a:prstGeom prst="rect">
            <a:avLst/>
          </a:prstGeom>
        </p:spPr>
      </p:pic>
      <p:sp>
        <p:nvSpPr>
          <p:cNvPr id="72" name="Text 52"/>
          <p:cNvSpPr txBox="1"/>
          <p:nvPr/>
        </p:nvSpPr>
        <p:spPr>
          <a:xfrm>
            <a:off x="8842248" y="481888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Datos reales ya cargados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Soberana: cronograma, costos, nómina y documentos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Dashboard del proyecto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Avance real contra planificado en un solo vistazo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02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Curva S automática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construye sola desde el cronograma y los informes diarios.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Indicadores clave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Avance programado, avance real, desviación y SPI del proyecto.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Semáforo de actividades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Atrasadas, críticas y finalizadas, siempre al día.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Cronograma de actividades (WBS)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estructura de trabajo del proyecto con avance por actividad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03_w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Importa MS Project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Carga el cronograma .mpp del proyecto o la plantilla EPC estándar.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Reprogramaciones con historial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versión queda guardada; la vigente alimenta el dashboard.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Planificado vs real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170 actividades con desviación, fechas y estado por disciplina.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Informe Diario de obra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registro del día a día que alimenta el avance del proyecto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04_informe_di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Avance por actividad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Toma las actividades del cronograma y registra el avance del día.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Personal, horas y clima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el contexto del día en un solo formato.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Flujo de revisión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Borrador, revisión y aprobación; se exporta a PDF.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Costos: Presupuesto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Control por rubro en pesos y dólares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05_costos_presupues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Ejecutado automático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calcula desde el archivo de tesorería; nadie lo digita.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Doble moneda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Vista en COP, en USD o ambas convertidas con la TRM del proyecto.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Alertas por rubro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Cercano al límite y sobrecosto, visibles de inmediato.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Costos: Órdenes de compra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Compromisos aprobados, facturados y pagados desde tesorería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08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06_costos_compromis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sola importación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archivo semanal de tesorería actualiza OC y flujo de caja.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Aprobado vs facturado vs pagado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Saldo por pagar y OC sobrepasadas con alerta.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Hitos por factura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OC muestra sus facturas y su estado de pago.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Costos: Dashboard </a:t>
            </a:r>
            <a:r>
              <a:rPr lang="en-US" sz="2400" b="1" dirty="0" err="1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presupuestal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Indicadores y gráficos para gerencia, más el consolidado semanal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09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09_costos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Exposición total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Presupuesto, ejecutado, comprometido y saldo disponible.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Gráficos por categoría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Presupuesto vs ejecutado vs compromisos por rubro.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Consolidado semanal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Informe de cierre con comparativo semana a semana y análisis con IA.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Histogramas de personal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Personal real desde la nómina contra lo planificado en la oferta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0_histogram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Real desde la nómina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Personas por cargo y mes, tomadas de tesorería; sin digitar.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Planificado desde la BOM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importa la hoja de personal de la oferta comercial.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Comparativo por cargo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Muestra dónde hay más o menos gente de la prevista.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Documentos del proyecto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Planificación documental de ingeniería, procedimientos y HSE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1_docu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Carga desde el Excel del cliente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importa la planificación documental sin duplicar.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Alertas de días sin atender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Amarillo desde 4 días, rojo desde 8; en cancha de quién está.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Responsables por área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disciplina ve sus pendientes y valida en línea.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HSEQ: Seguridad y salud en el trabajo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de trabajo, inspecciones, EPP, capacitaciones e incidentes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2_hseq_seguri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de trabajo anual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Actividades mensuales con cumplimiento y vencidas.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Inspecciones y permisos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ATS, OTS, STC, pausas activas y permisos de trabajo.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Indicadores en línea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Semáforo del área de seguridad y acciones pendientes.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HSEQ: Matriz de riesgos (IPERV)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Catálogo GTC 45 para proyectos solares e inspecciones con IA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3b_biblioteca_pelig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Biblioteca precargada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 peligros típicos de un EPC solar listos para agregar a la matriz.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Inspección con IA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partir de fotos y descripción, propone peligros y controles.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Mapa y dashboard SST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Riesgos por área, nivel y estado de control.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HSEQ: Calidad, Ambiental y Social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Tres tableros con los mismos indicadores que piden las auditorías ISO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89304"/>
            <a:ext cx="3730752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4_hseq_cali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3657600" cy="2514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023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Calidad · ISO 9001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PPIs, calibración, no conformidades y acciones correctivas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24528" y="1289304"/>
            <a:ext cx="3730752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2" name="Image 2" descr="C:\Users\Luisa Becerra\AppData\Local\Temp\claude\C--Users-Luisa-Becerra-Downloads-RenergeIA\3aeed48c-97c9-4566-979c-1f9760d298eb\scratchpad\shots\15_hseq_ambie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1104" y="1325880"/>
            <a:ext cx="3657600" cy="2514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261104" y="4023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Ambiental · ISO 14001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Residuos, derrames, aspectos e impactos, fauna y flora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028432" y="1289304"/>
            <a:ext cx="3730752" cy="2587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5" name="Image 3" descr="C:\Users\Luisa Becerra\AppData\Local\Temp\claude\C--Users-Luisa-Becerra-Downloads-RenergeIA\3aeed48c-97c9-4566-979c-1f9760d298eb\scratchpad\shots\16_hseq_soc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08" y="1325880"/>
            <a:ext cx="3657600" cy="2514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065008" y="4023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Social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Comunidades, PQR, compromisos, contratación y compras locales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57200" y="4983480"/>
            <a:ext cx="11274552" cy="1005840"/>
          </a:xfrm>
          <a:prstGeom prst="roundRect">
            <a:avLst>
              <a:gd name="adj" fmla="val 10909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578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4983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Auditorías HSEQ corporativas: </a:t>
            </a:r>
            <a:r>
              <a:rPr lang="en-US" sz="11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ISO 9001, ISO 14001, ISO 45001, Decreto 1072 y Resolución 0312 con un motor de auditoría único y consolidado anual.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Alertas y control de documentos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Vencimientos de personal, vehículos y proveedores con semáforo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7845552" cy="4928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7_alert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7772400" cy="4855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49640" y="1755648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8714232" y="1938528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20025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53144" y="186537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Matriz de cumplimiento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Pólizas, SOAT, revisión técnica, licencias y exámenes por recurso.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8549640" y="315468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0"/>
          <p:cNvSpPr/>
          <p:nvPr/>
        </p:nvSpPr>
        <p:spPr>
          <a:xfrm>
            <a:off x="8714232" y="3337560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0156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53144" y="32644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Semáforo de vencimientos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Vigentes, por vencer en 30, 20 y 10 días, y vencidos.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8549640" y="4553712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3"/>
          <p:cNvSpPr/>
          <p:nvPr/>
        </p:nvSpPr>
        <p:spPr>
          <a:xfrm>
            <a:off x="8714232" y="4736592"/>
            <a:ext cx="329184" cy="329184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800600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53144" y="4663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Importa el Excel actual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control de ingreso se carga tal como está hoy.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Clima operacional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Pronóstico del sitio y alerta por actividad del cronograma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20624" y="1261872"/>
            <a:ext cx="555955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C:\Users\Luisa Becerra\AppData\Local\Temp\claude\C--Users-Luisa-Becerra-Downloads-RenergeIA\3aeed48c-97c9-4566-979c-1f9760d298eb\scratchpad\shots\18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8448"/>
            <a:ext cx="5486400" cy="343814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08776" y="1261872"/>
            <a:ext cx="555955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1" name="Image 2" descr="C:\Users\Luisa Becerra\AppData\Local\Temp\claude\C--Users-Luisa-Becerra-Downloads-RenergeIA\3aeed48c-97c9-4566-979c-1f9760d298eb\scratchpad\shots\18b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298448"/>
            <a:ext cx="5486400" cy="34381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8920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Pronóstico a 16 días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Condiciones actuales, lluvia y viento con la columna “Apto obra” para cada día.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245352" y="48920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Alerta meteorológica operacional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Cruza el pronóstico con las actividades en curso y recomienda qué hacer con cada una.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Canal de WhatsApp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Consultas desde el celular con un bot de menú, sin abrir la plataforma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188720" y="1188720"/>
            <a:ext cx="2926080" cy="4892040"/>
          </a:xfrm>
          <a:prstGeom prst="roundRect">
            <a:avLst>
              <a:gd name="adj" fmla="val 10938"/>
            </a:avLst>
          </a:prstGeom>
          <a:solidFill>
            <a:srgbClr val="111921"/>
          </a:solidFill>
          <a:ln w="12700">
            <a:solidFill>
              <a:srgbClr val="111921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6"/>
          <p:cNvSpPr/>
          <p:nvPr/>
        </p:nvSpPr>
        <p:spPr>
          <a:xfrm>
            <a:off x="1298448" y="1298448"/>
            <a:ext cx="2706624" cy="4672584"/>
          </a:xfrm>
          <a:prstGeom prst="roundRect">
            <a:avLst>
              <a:gd name="adj" fmla="val 9459"/>
            </a:avLst>
          </a:prstGeom>
          <a:solidFill>
            <a:srgbClr val="ECE5DD"/>
          </a:solidFill>
          <a:ln w="12700">
            <a:solidFill>
              <a:srgbClr val="ECE5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7"/>
          <p:cNvSpPr/>
          <p:nvPr/>
        </p:nvSpPr>
        <p:spPr>
          <a:xfrm>
            <a:off x="1298448" y="1298448"/>
            <a:ext cx="2706624" cy="548640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 txBox="1"/>
          <p:nvPr/>
        </p:nvSpPr>
        <p:spPr>
          <a:xfrm>
            <a:off x="1508760" y="12984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RenergeIA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444752" y="2011680"/>
            <a:ext cx="2103120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 txBox="1"/>
          <p:nvPr/>
        </p:nvSpPr>
        <p:spPr>
          <a:xfrm>
            <a:off x="1536192" y="2057400"/>
            <a:ext cx="19202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Hola, soy el asistente de RenergeIA. ¿Qué quieres consultar?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Avance del proyecto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Costos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Documentos pendientes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Clima de hoy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3218688" y="3191256"/>
            <a:ext cx="640080" cy="374904"/>
          </a:xfrm>
          <a:prstGeom prst="roundRect">
            <a:avLst>
              <a:gd name="adj" fmla="val 24390"/>
            </a:avLst>
          </a:prstGeom>
          <a:solidFill>
            <a:srgbClr val="DCF8C6"/>
          </a:solidFill>
          <a:ln w="12700">
            <a:solidFill>
              <a:srgbClr val="DCF8C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 txBox="1"/>
          <p:nvPr/>
        </p:nvSpPr>
        <p:spPr>
          <a:xfrm>
            <a:off x="3310128" y="3236976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1444752" y="3675888"/>
            <a:ext cx="210312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 txBox="1"/>
          <p:nvPr/>
        </p:nvSpPr>
        <p:spPr>
          <a:xfrm>
            <a:off x="1536192" y="3721608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Soberana · 26/09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Avance real: 56,2 %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Programado: 63,8 %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Desviación: -7,6 %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218688" y="4681728"/>
            <a:ext cx="640080" cy="374904"/>
          </a:xfrm>
          <a:prstGeom prst="roundRect">
            <a:avLst>
              <a:gd name="adj" fmla="val 24390"/>
            </a:avLst>
          </a:prstGeom>
          <a:solidFill>
            <a:srgbClr val="DCF8C6"/>
          </a:solidFill>
          <a:ln w="12700">
            <a:solidFill>
              <a:srgbClr val="DCF8C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 txBox="1"/>
          <p:nvPr/>
        </p:nvSpPr>
        <p:spPr>
          <a:xfrm>
            <a:off x="3310128" y="472744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1444752" y="5166360"/>
            <a:ext cx="2103120" cy="374904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 txBox="1"/>
          <p:nvPr/>
        </p:nvSpPr>
        <p:spPr>
          <a:xfrm>
            <a:off x="1536192" y="521208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Hoy: tormenta eléctrica, 29°/24°, lluvia 82 %. Recomendación: limitar trabajo en campo.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4846320" y="1371600"/>
            <a:ext cx="6858000" cy="1325880"/>
          </a:xfrm>
          <a:prstGeom prst="roundRect">
            <a:avLst>
              <a:gd name="adj" fmla="val 689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0"/>
          <p:cNvSpPr/>
          <p:nvPr/>
        </p:nvSpPr>
        <p:spPr>
          <a:xfrm>
            <a:off x="5074920" y="1737360"/>
            <a:ext cx="594360" cy="59436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4" y="1883664"/>
            <a:ext cx="301752" cy="30175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897880" y="1508760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Bot de menú determinista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Responde con datos del sistema; no inventa. Ideal para gerencia y residentes en campo.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846320" y="2926080"/>
            <a:ext cx="6858000" cy="1325880"/>
          </a:xfrm>
          <a:prstGeom prst="roundRect">
            <a:avLst>
              <a:gd name="adj" fmla="val 689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3"/>
          <p:cNvSpPr/>
          <p:nvPr/>
        </p:nvSpPr>
        <p:spPr>
          <a:xfrm>
            <a:off x="5074920" y="3291840"/>
            <a:ext cx="594360" cy="59436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4" y="3438144"/>
            <a:ext cx="301752" cy="301752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897880" y="3063240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Conexión directa con Meta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 intermediarios: solo se paga la tarifa por conversación de WhatsApp.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846320" y="4480560"/>
            <a:ext cx="6858000" cy="1325880"/>
          </a:xfrm>
          <a:prstGeom prst="roundRect">
            <a:avLst>
              <a:gd name="adj" fmla="val 689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Shape 26"/>
          <p:cNvSpPr/>
          <p:nvPr/>
        </p:nvSpPr>
        <p:spPr>
          <a:xfrm>
            <a:off x="5074920" y="4846320"/>
            <a:ext cx="594360" cy="59436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1224" y="4992624"/>
            <a:ext cx="301752" cy="301752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5897880" y="4617720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Listo para crecer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Hoy consulta avance, costos, documentos y clima. Después: alertas automáticas.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gana la empresa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sola fuente de información para decidir con datos al día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71600"/>
            <a:ext cx="55321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6"/>
          <p:cNvSpPr/>
          <p:nvPr/>
        </p:nvSpPr>
        <p:spPr>
          <a:xfrm>
            <a:off x="777240" y="2011680"/>
            <a:ext cx="777240" cy="77724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2203704"/>
            <a:ext cx="393192" cy="39319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28800" y="16002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Decisiones con datos al día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Avance, costos y HSEQ del proyecto en tiempo real, sin esperar el consolidado.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99632" y="1371600"/>
            <a:ext cx="55321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9"/>
          <p:cNvSpPr/>
          <p:nvPr/>
        </p:nvSpPr>
        <p:spPr>
          <a:xfrm>
            <a:off x="6519672" y="2011680"/>
            <a:ext cx="777240" cy="77724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2203704"/>
            <a:ext cx="393192" cy="39319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571232" y="16002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Menos reprocesos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ejecutado, las OC y la nómina se cargan una sola vez desde tesorería.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3657600"/>
            <a:ext cx="55321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777240" y="4297680"/>
            <a:ext cx="777240" cy="77724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44897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828800" y="38862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Cumplimiento con alertas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Documentos, pólizas y planes HSE con semáforo antes de que se venzan.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199632" y="3657600"/>
            <a:ext cx="55321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5"/>
          <p:cNvSpPr/>
          <p:nvPr/>
        </p:nvSpPr>
        <p:spPr>
          <a:xfrm>
            <a:off x="6519672" y="4297680"/>
            <a:ext cx="777240" cy="77724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1696" y="4489704"/>
            <a:ext cx="393192" cy="39319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571232" y="38862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mismo estándar en todos los proyectos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Plantilla EPC, codificación de costos y formatos únicos para la empresa.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Propuesta: adopción en dos etapas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Empezar con La Soberana y extender a todos los proyectos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81360" y="36576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0" y="3657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19 / 20</a:t>
            </a:r>
            <a:endParaRPr lang="en-US" sz="800" dirty="0"/>
          </a:p>
        </p:txBody>
      </p:sp>
      <p:pic>
        <p:nvPicPr>
          <p:cNvPr id="6" name="Image 0" descr="C:\Users\Luisa Becerra\AppData\Local\Temp\claude\C--Users-Luisa-Becerra-Downloads-RenergeIA\3aeed48c-97c9-4566-979c-1f9760d298eb\scratchpad\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45352"/>
            <a:ext cx="1033272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6309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71600"/>
            <a:ext cx="5394960" cy="443484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6"/>
          <p:cNvSpPr/>
          <p:nvPr/>
        </p:nvSpPr>
        <p:spPr>
          <a:xfrm>
            <a:off x="777240" y="1691640"/>
            <a:ext cx="822960" cy="822960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7"/>
          <p:cNvSpPr txBox="1"/>
          <p:nvPr/>
        </p:nvSpPr>
        <p:spPr>
          <a:xfrm>
            <a:off x="77724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78308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Piloto en La Soberana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78308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Octubre a diciembre 2026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68680" y="2944368"/>
            <a:ext cx="310896" cy="310896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008376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371600" y="2834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Datos reales ya cargados: cronograma, costos, nómina y documentos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68680" y="3858768"/>
            <a:ext cx="310896" cy="310896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92277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71600" y="37490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Uso semanal por el equipo del proyecto: informe diario, tesorería y HSEQ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68680" y="4773168"/>
            <a:ext cx="310896" cy="310896"/>
          </a:xfrm>
          <a:prstGeom prst="ellipse">
            <a:avLst/>
          </a:prstGeom>
          <a:solidFill>
            <a:srgbClr val="183963"/>
          </a:solidFill>
          <a:ln w="12700">
            <a:solidFill>
              <a:srgbClr val="18396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4837176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6634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Revisión mensual de resultados con gerencia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355080" y="1371600"/>
            <a:ext cx="5394960" cy="443484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9D9D6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17"/>
          <p:cNvSpPr/>
          <p:nvPr/>
        </p:nvSpPr>
        <p:spPr>
          <a:xfrm>
            <a:off x="6675120" y="1691640"/>
            <a:ext cx="822960" cy="82296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18"/>
          <p:cNvSpPr txBox="1"/>
          <p:nvPr/>
        </p:nvSpPr>
        <p:spPr>
          <a:xfrm>
            <a:off x="667512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768096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396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Todos los proyectos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68096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Desde enero 2027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766560" y="2944368"/>
            <a:ext cx="310896" cy="310896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3008376"/>
            <a:ext cx="182880" cy="1828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269480" y="2834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Villanueva y los proyectos nuevos arrancan en la plataforma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6766560" y="3858768"/>
            <a:ext cx="310896" cy="310896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3922776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269480" y="37490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Plantilla EPC y codificación de costos como estándar de la empresa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6766560" y="4773168"/>
            <a:ext cx="310896" cy="310896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4837176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269480" y="46634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Usuarios y roles por proyecto; WhatsApp y notificaciones por correo</a:t>
            </a:r>
            <a:endParaRPr lang="en-US" sz="10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32918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39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isa Becerra\AppData\Local\Temp\claude\C--Users-Luisa-Becerra-Downloads-RenergeIA\3aeed48c-97c9-4566-979c-1f9760d298eb\scratchpad\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920240" cy="85039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6916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pedimos a gerencia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274320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0E2340"/>
          </a:solidFill>
          <a:ln w="12700">
            <a:solidFill>
              <a:srgbClr val="2B4A7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2"/>
          <p:cNvSpPr/>
          <p:nvPr/>
        </p:nvSpPr>
        <p:spPr>
          <a:xfrm>
            <a:off x="914400" y="3017520"/>
            <a:ext cx="640080" cy="64008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317296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Aprobar el piloto en La Soberana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Uso oficial de la plataforma por el equipo del proyecto desde octubre.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4343400" y="274320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0E2340"/>
          </a:solidFill>
          <a:ln w="12700">
            <a:solidFill>
              <a:srgbClr val="2B4A7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5"/>
          <p:cNvSpPr/>
          <p:nvPr/>
        </p:nvSpPr>
        <p:spPr>
          <a:xfrm>
            <a:off x="4617720" y="3017520"/>
            <a:ext cx="640080" cy="64008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3172968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Designar responsables por módulo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Costos, cronograma, documentos y HSEQ con un dueño de la información.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046720" y="274320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0E2340"/>
          </a:solidFill>
          <a:ln w="12700">
            <a:solidFill>
              <a:srgbClr val="2B4A7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8"/>
          <p:cNvSpPr/>
          <p:nvPr/>
        </p:nvSpPr>
        <p:spPr>
          <a:xfrm>
            <a:off x="8321040" y="3017520"/>
            <a:ext cx="640080" cy="640080"/>
          </a:xfrm>
          <a:prstGeom prst="ellipse">
            <a:avLst/>
          </a:prstGeom>
          <a:solidFill>
            <a:srgbClr val="6ABF4B"/>
          </a:solidFill>
          <a:ln w="12700">
            <a:solidFill>
              <a:srgbClr val="6ABF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3172968"/>
            <a:ext cx="329184" cy="32918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32104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Fijar la fecha de decisión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Revisar resultados en diciembre para extenderla a todos los proyectos.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ABF4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Gracias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6949440" y="5715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9D9D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Plataforma para la gestión de proyectos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2027</Words>
  <Application>Microsoft Office PowerPoint</Application>
  <PresentationFormat>Panorámica</PresentationFormat>
  <Paragraphs>270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Verdana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RenergeIA — Plataforma para la gestión de proyectos</dc:title>
  <dc:subject>PptxGenJS Presentation</dc:subject>
  <dc:creator>Renergeia</dc:creator>
  <cp:lastModifiedBy>Luisa Becerra</cp:lastModifiedBy>
  <cp:revision>2</cp:revision>
  <dcterms:created xsi:type="dcterms:W3CDTF">2026-09-26T13:35:49Z</dcterms:created>
  <dcterms:modified xsi:type="dcterms:W3CDTF">2026-09-28T16:00:25Z</dcterms:modified>
</cp:coreProperties>
</file>